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embeddedFontLst>
    <p:embeddedFont>
      <p:font typeface="Barlow Bold" panose="020B0604020202020204" charset="0"/>
      <p:regular r:id="rId13"/>
    </p:embeddedFont>
    <p:embeddedFont>
      <p:font typeface="Barlow Light" panose="00000400000000000000" pitchFamily="2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46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hyperlink" Target="mailto:24F2004595@ds.study.iitm.ac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D3DE2E-33DC-B239-4D1F-1A032FD8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626" y="6591277"/>
            <a:ext cx="1318374" cy="266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91B504-37EE-C146-32AB-9E741125A945}"/>
              </a:ext>
            </a:extLst>
          </p:cNvPr>
          <p:cNvSpPr txBox="1"/>
          <p:nvPr/>
        </p:nvSpPr>
        <p:spPr>
          <a:xfrm>
            <a:off x="2838450" y="3284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216535" algn="ctr">
              <a:lnSpc>
                <a:spcPct val="100000"/>
              </a:lnSpc>
              <a:spcBef>
                <a:spcPts val="315"/>
              </a:spcBef>
              <a:buNone/>
            </a:pP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Improving</a:t>
            </a:r>
            <a:r>
              <a:rPr lang="en-US" sz="2400" b="1" i="1" u="sng" kern="0" spc="-55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Production</a:t>
            </a:r>
            <a:r>
              <a:rPr lang="en-US" sz="2400" b="1" i="1" u="sng" kern="0" spc="-6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Planning</a:t>
            </a:r>
            <a:r>
              <a:rPr lang="en-US" sz="2400" b="1" i="1" u="sng" kern="0" spc="-55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through</a:t>
            </a:r>
            <a:r>
              <a:rPr lang="en-US" sz="2400" b="1" i="1" u="sng" kern="0" spc="-6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Material</a:t>
            </a:r>
            <a:r>
              <a:rPr lang="en-US" sz="2400" b="1" i="1" u="sng" strike="noStrike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400" b="1" i="1" u="sng" kern="0" dirty="0">
                <a:effectLst/>
                <a:uFill>
                  <a:solidFill>
                    <a:srgbClr val="000000"/>
                  </a:solidFill>
                </a:uFill>
                <a:latin typeface="+mn-lt"/>
                <a:ea typeface="Times New Roman" panose="02020603050405020304" pitchFamily="18" charset="0"/>
              </a:rPr>
              <a:t>Flow Analysis: Gas Stove Parts Manufacturer</a:t>
            </a:r>
            <a:endParaRPr lang="en-IN" sz="2400" b="1" i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EA26C4E5-FBCB-83C1-4C64-ADA5431322A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06302" y="1576363"/>
            <a:ext cx="3293745" cy="32937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A25712-CB55-72A4-77FE-FE1956B69F8D}"/>
              </a:ext>
            </a:extLst>
          </p:cNvPr>
          <p:cNvSpPr txBox="1"/>
          <p:nvPr/>
        </p:nvSpPr>
        <p:spPr>
          <a:xfrm>
            <a:off x="3305175" y="4917675"/>
            <a:ext cx="609600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9015" marR="2365375" indent="1270" algn="ctr">
              <a:lnSpc>
                <a:spcPct val="100000"/>
              </a:lnSpc>
              <a:buNone/>
            </a:pP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Submitted By-Name-</a:t>
            </a:r>
            <a:r>
              <a:rPr lang="en-US" sz="1800" b="1" i="1" spc="-7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Rishit</a:t>
            </a:r>
            <a:r>
              <a:rPr lang="en-US" sz="1800" b="1" i="1" spc="-8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Jain</a:t>
            </a:r>
            <a:endParaRPr lang="en-IN" sz="1800" b="1" i="1" dirty="0">
              <a:effectLst/>
              <a:latin typeface="+mn-lt"/>
              <a:ea typeface="Times New Roman" panose="02020603050405020304" pitchFamily="18" charset="0"/>
            </a:endParaRPr>
          </a:p>
          <a:p>
            <a:pPr marR="85090" algn="ctr">
              <a:lnSpc>
                <a:spcPct val="100000"/>
              </a:lnSpc>
              <a:buNone/>
            </a:pP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Roll</a:t>
            </a:r>
            <a:r>
              <a:rPr lang="en-US" sz="1800" b="1" i="1" spc="-4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Number-</a:t>
            </a:r>
            <a:r>
              <a:rPr lang="en-US" sz="1800" b="1" i="1" spc="-3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i="1" spc="-10" dirty="0">
                <a:effectLst/>
                <a:latin typeface="+mn-lt"/>
                <a:ea typeface="Times New Roman" panose="02020603050405020304" pitchFamily="18" charset="0"/>
              </a:rPr>
              <a:t>24F2004595</a:t>
            </a:r>
            <a:endParaRPr lang="en-IN" sz="1800" b="1" i="1" dirty="0">
              <a:effectLst/>
              <a:latin typeface="+mn-lt"/>
              <a:ea typeface="Times New Roman" panose="02020603050405020304" pitchFamily="18" charset="0"/>
            </a:endParaRPr>
          </a:p>
          <a:p>
            <a:pPr marR="84455" algn="ctr">
              <a:spcBef>
                <a:spcPts val="925"/>
              </a:spcBef>
              <a:buNone/>
            </a:pPr>
            <a:r>
              <a:rPr lang="en-US" sz="1800" b="1" i="1" dirty="0">
                <a:effectLst/>
                <a:latin typeface="+mn-lt"/>
                <a:ea typeface="Times New Roman" panose="02020603050405020304" pitchFamily="18" charset="0"/>
              </a:rPr>
              <a:t>Email-</a:t>
            </a:r>
            <a:r>
              <a:rPr lang="en-US" sz="1800" b="1" i="1" spc="-2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i="1" u="none" strike="noStrike" spc="-10" dirty="0">
                <a:effectLst/>
                <a:latin typeface="+mn-lt"/>
                <a:ea typeface="Times New Roman" panose="02020603050405020304" pitchFamily="18" charset="0"/>
                <a:hlinkClick r:id="rId4"/>
              </a:rPr>
              <a:t>24F2004595@ds.study.iitm.ac.in</a:t>
            </a:r>
            <a:endParaRPr lang="en-IN" sz="11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EB86AD-5804-1D8E-D0FD-E197E477B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1" y="0"/>
            <a:ext cx="3390899" cy="1733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0DDD5D-4453-25DB-FE9C-98F7444DF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092" y="1447238"/>
            <a:ext cx="4390365" cy="19817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173052-A67A-7991-074A-94E17F90B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8542" y="2486025"/>
            <a:ext cx="1963457" cy="43613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0F08A3-0B13-10F4-8BFC-0771542A1A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658910"/>
            <a:ext cx="4649286" cy="209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0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" y="283766"/>
            <a:ext cx="3540036" cy="62903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03794" y="540841"/>
            <a:ext cx="6355993" cy="96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MetaFab India: Business &amp; Manufacturing Context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203794" y="1684536"/>
            <a:ext cx="6355993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MetaFab India is a B2B MSME manufacturing company based in Greater Noida, Uttar Pradesh.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098228" y="2244030"/>
            <a:ext cx="3210242" cy="3726259"/>
          </a:xfrm>
          <a:prstGeom prst="roundRect">
            <a:avLst>
              <a:gd name="adj" fmla="val 10967"/>
            </a:avLst>
          </a:prstGeom>
          <a:solidFill>
            <a:srgbClr val="505468"/>
          </a:solidFill>
          <a:ln/>
        </p:spPr>
      </p:sp>
      <p:sp>
        <p:nvSpPr>
          <p:cNvPr id="7" name="Text 3"/>
          <p:cNvSpPr/>
          <p:nvPr/>
        </p:nvSpPr>
        <p:spPr>
          <a:xfrm>
            <a:off x="5244870" y="2363192"/>
            <a:ext cx="2916958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Major Products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244870" y="2723555"/>
            <a:ext cx="2916958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Brass Burner Ring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 Iron Pan Support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Gas Valve Assembly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567027" y="2363192"/>
            <a:ext cx="2999109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Manufacturing Flow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67027" y="2723555"/>
            <a:ext cx="29991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Material Procurement → Production → Quality Inspection → Finished Goods → Customer Delivery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567027" y="3480891"/>
            <a:ext cx="2999109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567027" y="3841254"/>
            <a:ext cx="2999109" cy="202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records were largely maintained manually. Production is commonly initiated after customer orders are received. Customer fulfilment windows are short, while manufacturing capacity is finite.</a:t>
            </a:r>
            <a:endParaRPr lang="en-US" sz="11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Objective:</a:t>
            </a: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Improve production planning using operational data.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7D6913-254C-366D-D149-F183A4996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5930" y="6469346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453" y="770334"/>
            <a:ext cx="3544799" cy="53173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908" y="577552"/>
            <a:ext cx="6355993" cy="927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Problems Was MetaFab India Facing?</a:t>
            </a:r>
            <a:endParaRPr lang="en-US" sz="29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1670745"/>
            <a:ext cx="6355993" cy="108624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8142" y="1830784"/>
            <a:ext cx="5959723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01 — PROCUREMENT</a:t>
            </a:r>
            <a:endParaRPr lang="en-US" sz="1450" dirty="0"/>
          </a:p>
        </p:txBody>
      </p:sp>
      <p:sp>
        <p:nvSpPr>
          <p:cNvPr id="7" name="Text 2"/>
          <p:cNvSpPr/>
          <p:nvPr/>
        </p:nvSpPr>
        <p:spPr>
          <a:xfrm>
            <a:off x="868142" y="2128838"/>
            <a:ext cx="5959723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raw materials being purchased in the right quantity and at the right time?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Excess inventory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Material shortage</a:t>
            </a:r>
            <a:endParaRPr lang="en-US" sz="1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2867124"/>
            <a:ext cx="6355993" cy="108624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68142" y="3027164"/>
            <a:ext cx="5959723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02 — PRODUCTION EFFICIENCY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868142" y="3325217"/>
            <a:ext cx="5959723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production capacity, machines and workforce being utilised effectively?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Under-utilisation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Downtime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Defects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063504"/>
            <a:ext cx="6355993" cy="128726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142" y="4223544"/>
            <a:ext cx="5959723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03 — PRODUCTION PLANNING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868142" y="4521597"/>
            <a:ext cx="5959723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should be produced in advance and what should be produced only after receiving an order?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Risk: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Slow fulfilment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Excess finished-goods inventory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084"/>
            <a:ext cx="10927878" cy="50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Operational Data Collected from MetaFab India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31908" y="1268214"/>
            <a:ext cx="927970" cy="23137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723287" y="1313855"/>
            <a:ext cx="1354798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DATASETS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35977" y="1268214"/>
            <a:ext cx="1140094" cy="23137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6" name="Text 4"/>
          <p:cNvSpPr/>
          <p:nvPr/>
        </p:nvSpPr>
        <p:spPr>
          <a:xfrm>
            <a:off x="1727355" y="1313855"/>
            <a:ext cx="1566923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2,529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52170" y="1268214"/>
            <a:ext cx="977578" cy="23137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8" name="Text 6"/>
          <p:cNvSpPr/>
          <p:nvPr/>
        </p:nvSpPr>
        <p:spPr>
          <a:xfrm>
            <a:off x="2943548" y="1313855"/>
            <a:ext cx="1404406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 COLUMNS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05847" y="1268214"/>
            <a:ext cx="1068162" cy="23137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10" name="Text 8"/>
          <p:cNvSpPr/>
          <p:nvPr/>
        </p:nvSpPr>
        <p:spPr>
          <a:xfrm>
            <a:off x="3997225" y="1313855"/>
            <a:ext cx="1494991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JAN–JUN 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1908" y="1644154"/>
            <a:ext cx="5399647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255" y="1815505"/>
            <a:ext cx="505695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Purchase 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3255" y="2143125"/>
            <a:ext cx="5056954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Quantity purchased, price and procurement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0040" y="1644154"/>
            <a:ext cx="5399746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1387" y="1815505"/>
            <a:ext cx="505705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Production Data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31387" y="2143125"/>
            <a:ext cx="505705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output, material consumed and defects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1908" y="2667595"/>
            <a:ext cx="5399647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255" y="2838946"/>
            <a:ext cx="505695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Sales Invoice Data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3255" y="3166566"/>
            <a:ext cx="5056954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demand, quantity sold and revenue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0040" y="2667595"/>
            <a:ext cx="5399746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1387" y="2838946"/>
            <a:ext cx="505705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Raw Material Inventory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31387" y="3166566"/>
            <a:ext cx="505705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Opening stock, purchases, consumption and closing stock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1908" y="3691037"/>
            <a:ext cx="5399647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255" y="3862388"/>
            <a:ext cx="505695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5. Finished Goods Inventory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03255" y="4190008"/>
            <a:ext cx="5056954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Production, sales and closing stock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60040" y="3691037"/>
            <a:ext cx="5399746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1387" y="3862388"/>
            <a:ext cx="505705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6. Production Capacity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31387" y="4190008"/>
            <a:ext cx="505705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capacity and machine mapping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1908" y="4714478"/>
            <a:ext cx="5399647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255" y="4885829"/>
            <a:ext cx="505695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7. Workers Attendance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03255" y="5213449"/>
            <a:ext cx="5056954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Workers present and overtime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60040" y="4714478"/>
            <a:ext cx="5399746" cy="894953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1387" y="4885829"/>
            <a:ext cx="505705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8. Machine Breakdown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331387" y="5213449"/>
            <a:ext cx="505705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Breakdowns, reasons and downtime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1908" y="5753993"/>
            <a:ext cx="10927878" cy="59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datasets together cover procurement, inventory, demand, production and operational constraints.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C58DAF-98E0-F64C-EB0C-2EC3BB2C8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350" y="6411756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2925"/>
            <a:ext cx="10927878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EDA: What Did the Initial Analysis Show?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31908" y="1317427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73.15%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31908" y="1950045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Procurement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1908" y="2255441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Quantity CV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22257" y="1317427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77.57%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4322257" y="1950045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Procurement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22257" y="2255441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Cost CV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12607" y="1317427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185,173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8012607" y="1950045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12607" y="2255441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Units Produced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908" y="2763441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4.63%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631908" y="3396059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1908" y="3701455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Defect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2257" y="2763441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57.95%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4322257" y="3396059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Capacity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22257" y="3701455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Recorded-Day Capacity Utilisation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12607" y="2763441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73.1 hrs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012607" y="3396059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12607" y="3701455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Downtime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22257" y="4209455"/>
            <a:ext cx="3547081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88.2%</a:t>
            </a:r>
            <a:endParaRPr lang="en-US" sz="3700" dirty="0"/>
          </a:p>
        </p:txBody>
      </p:sp>
      <p:sp>
        <p:nvSpPr>
          <p:cNvPr id="22" name="Text 20"/>
          <p:cNvSpPr/>
          <p:nvPr/>
        </p:nvSpPr>
        <p:spPr>
          <a:xfrm>
            <a:off x="4322257" y="4842073"/>
            <a:ext cx="354708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22257" y="5147469"/>
            <a:ext cx="3547081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Worker Attendance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1908" y="5483126"/>
            <a:ext cx="10927878" cy="496292"/>
          </a:xfrm>
          <a:prstGeom prst="roundRect">
            <a:avLst>
              <a:gd name="adj" fmla="val 43485"/>
            </a:avLst>
          </a:prstGeom>
          <a:solidFill>
            <a:srgbClr val="D4E9F7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72" y="5647432"/>
            <a:ext cx="179780" cy="14386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9415" y="5633641"/>
            <a:ext cx="10926092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Procurement and demand are highly variable, while production operates below practical capacity and machine downtime is concentrated.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5D1D64-FADE-BD91-A7E5-BB36242DA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721" y="6415470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4173"/>
            <a:ext cx="10927878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EDA Visualizations: What the Numbers Look Like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31908" y="950218"/>
            <a:ext cx="7023619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Monthly Procurement vs Production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1151235"/>
            <a:ext cx="7633204" cy="112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Message: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Procurement fluctuates considerably, while production remains comparatively stable.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7" y="1318021"/>
            <a:ext cx="4692567" cy="18075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60183" y="117887"/>
            <a:ext cx="3677153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Closing Stock Coverage by Raw Material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60184" y="311795"/>
            <a:ext cx="3677153" cy="42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 Iron Scrap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114.7 days</a:t>
            </a:r>
            <a:endParaRPr lang="en-US" sz="700" dirty="0"/>
          </a:p>
          <a:p>
            <a:pPr marL="0" indent="0" algn="l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Brass Ingots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13.3 days</a:t>
            </a:r>
            <a:endParaRPr lang="en-US" sz="7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Message: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Significant imbalance exists between materials.</a:t>
            </a:r>
            <a:endParaRPr lang="en-US" sz="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744702"/>
            <a:ext cx="5250119" cy="26964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908" y="3303091"/>
            <a:ext cx="7023619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Actual Production vs Practical Capacity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31908" y="3504109"/>
            <a:ext cx="7023619" cy="58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Brass Burner Ring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58.68%</a:t>
            </a:r>
            <a:endParaRPr lang="en-US" sz="700" dirty="0"/>
          </a:p>
          <a:p>
            <a:pPr marL="0" indent="0" algn="l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 Iron Pan Support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59.12%</a:t>
            </a:r>
            <a:endParaRPr lang="en-US" sz="700" dirty="0"/>
          </a:p>
          <a:p>
            <a:pPr marL="0" indent="0" algn="l">
              <a:lnSpc>
                <a:spcPct val="10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Gas Valve Assembly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57.12%</a:t>
            </a:r>
            <a:endParaRPr lang="en-US" sz="7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— </a:t>
            </a: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57.95%</a:t>
            </a:r>
            <a:endParaRPr lang="en-US" sz="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95" y="4057113"/>
            <a:ext cx="4832579" cy="27806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78521" y="3431550"/>
            <a:ext cx="3677153" cy="1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4. Machine Downtime by Production Area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878522" y="3592797"/>
            <a:ext cx="3677153" cy="22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Message: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Approximately 80% of recorded downtime comes from two areas.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888884" y="3754662"/>
            <a:ext cx="3677153" cy="24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1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Casting Line &amp; Fettling</a:t>
            </a:r>
            <a:endParaRPr lang="en-US" sz="700" dirty="0"/>
          </a:p>
          <a:p>
            <a:pPr marL="142240" indent="-142240" algn="l">
              <a:lnSpc>
                <a:spcPct val="101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Brass CNC &amp; Turning Cell</a:t>
            </a:r>
            <a:endParaRPr lang="en-US" sz="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183" y="3970073"/>
            <a:ext cx="5250119" cy="27514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87AF63-BC8D-22A1-3535-3006D9752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9350" y="6474445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826" y="777180"/>
            <a:ext cx="3535671" cy="530363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908" y="546298"/>
            <a:ext cx="6355993" cy="1002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1 → Solution: Material-Specific Procurement Control</a:t>
            </a:r>
            <a:endParaRPr lang="en-US" sz="3150" dirty="0"/>
          </a:p>
        </p:txBody>
      </p:sp>
      <p:sp>
        <p:nvSpPr>
          <p:cNvPr id="5" name="Shape 1"/>
          <p:cNvSpPr/>
          <p:nvPr/>
        </p:nvSpPr>
        <p:spPr>
          <a:xfrm>
            <a:off x="522175" y="1741388"/>
            <a:ext cx="3211631" cy="3287117"/>
          </a:xfrm>
          <a:prstGeom prst="roundRect">
            <a:avLst>
              <a:gd name="adj" fmla="val 11384"/>
            </a:avLst>
          </a:prstGeom>
          <a:solidFill>
            <a:srgbClr val="505468"/>
          </a:solidFill>
          <a:ln/>
        </p:spPr>
      </p:sp>
      <p:sp>
        <p:nvSpPr>
          <p:cNvPr id="6" name="Text 2"/>
          <p:cNvSpPr/>
          <p:nvPr/>
        </p:nvSpPr>
        <p:spPr>
          <a:xfrm>
            <a:off x="674472" y="1869877"/>
            <a:ext cx="2907037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74472" y="2248892"/>
            <a:ext cx="2907037" cy="202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Raw-material positions are highly uneven.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Cast Iron Scrap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23,593 kg closing stock</a:t>
            </a:r>
            <a:endParaRPr lang="en-US" sz="1150" dirty="0"/>
          </a:p>
          <a:p>
            <a:pPr marL="0" indent="0" algn="l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114.7 days coverage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Brass Ingots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1,972 kg closing stock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13.3 days coverage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002087" y="1869877"/>
            <a:ext cx="299216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002087" y="2248892"/>
            <a:ext cx="2992164" cy="1238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 material-specific purchasing rule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Consumption ↓ Current Stock Coverage ↓ Recent Purchases ↓ Supplier Lead Time ↓ Purchase Decision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002087" y="3616127"/>
            <a:ext cx="2992164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002087" y="3995142"/>
            <a:ext cx="2992164" cy="988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stock weekly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procurement monthly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Immediately review further Cast Iron Scrap purchases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1908" y="5173067"/>
            <a:ext cx="6355993" cy="769342"/>
          </a:xfrm>
          <a:prstGeom prst="roundRect">
            <a:avLst>
              <a:gd name="adj" fmla="val 29701"/>
            </a:avLst>
          </a:prstGeom>
          <a:solidFill>
            <a:srgbClr val="D4E9F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05" y="5358606"/>
            <a:ext cx="190396" cy="1523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6898" y="5339556"/>
            <a:ext cx="5708706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 according to actual material requirement, not by a common purchasing rule.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" y="773807"/>
            <a:ext cx="3540036" cy="531028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03794" y="540643"/>
            <a:ext cx="6355993" cy="144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2 → Solution: Improve Production Efficiency Using Existing Capacity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098228" y="2166838"/>
            <a:ext cx="3210242" cy="3157240"/>
          </a:xfrm>
          <a:prstGeom prst="roundRect">
            <a:avLst>
              <a:gd name="adj" fmla="val 11151"/>
            </a:avLst>
          </a:prstGeom>
          <a:solidFill>
            <a:srgbClr val="505468"/>
          </a:solidFill>
          <a:ln/>
        </p:spPr>
      </p:sp>
      <p:sp>
        <p:nvSpPr>
          <p:cNvPr id="6" name="Text 2"/>
          <p:cNvSpPr/>
          <p:nvPr/>
        </p:nvSpPr>
        <p:spPr>
          <a:xfrm>
            <a:off x="5244870" y="2286000"/>
            <a:ext cx="2916958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EVIDENCE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244870" y="2646363"/>
            <a:ext cx="2916958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57.95% Recorded-Day Utilisation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73.1 hrs Machine Downtime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~80% Downtime from Two Areas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567027" y="2286000"/>
            <a:ext cx="2999109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THREE ACTIONS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67027" y="2646363"/>
            <a:ext cx="2999109" cy="2636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FOCUSED PREVENTIVE MAINTENANCE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​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Prioritise the two production areas responsible for most downtime.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1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EXISTING CAPACITY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​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Allocate available production headroom to products with recurring demand.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1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AVOID IMMEDIATE EXPANSION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​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scheduling, machine reliability and resource allocation before adding new capacity.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203794" y="5458123"/>
            <a:ext cx="6355993" cy="512366"/>
          </a:xfrm>
          <a:prstGeom prst="roundRect">
            <a:avLst>
              <a:gd name="adj" fmla="val 42946"/>
            </a:avLst>
          </a:prstGeom>
          <a:solidFill>
            <a:srgbClr val="D4E9F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436" y="5625207"/>
            <a:ext cx="183352" cy="1466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80429" y="5613896"/>
            <a:ext cx="6342301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bottlenecks and use existing capacity before expanding.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6EB05C-5853-6FD0-8C8A-3DC29D499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721" y="6451302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8538"/>
            <a:ext cx="10927878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3 → Solution: Selective Make-to-Stock Planning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31908" y="1267916"/>
            <a:ext cx="5291898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PRODUCT-WISE DEMAND VARIABILITY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1908" y="1610023"/>
            <a:ext cx="5291898" cy="140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Brass Burner Ring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46.6% Weekly CV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Pre-production candidate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Cast Iron Pan Support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46.2% Weekly CV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Pre-production candidate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Gas Valve Assembly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56.5% Weekly CV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cautious / stronger order evidence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641" y="1157784"/>
            <a:ext cx="5495093" cy="3153470"/>
          </a:xfrm>
          <a:prstGeom prst="roundRect">
            <a:avLst>
              <a:gd name="adj" fmla="val 10735"/>
            </a:avLst>
          </a:prstGeom>
          <a:solidFill>
            <a:srgbClr val="505468"/>
          </a:solidFill>
          <a:ln/>
        </p:spPr>
      </p:sp>
      <p:sp>
        <p:nvSpPr>
          <p:cNvPr id="6" name="Text 4"/>
          <p:cNvSpPr/>
          <p:nvPr/>
        </p:nvSpPr>
        <p:spPr>
          <a:xfrm>
            <a:off x="6313627" y="1267916"/>
            <a:ext cx="5213120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DECISION RULE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13627" y="1610023"/>
            <a:ext cx="5213120" cy="260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in ≥ 4 of the last 6 months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CV ≤ 50%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Eligible for Controlled Pre-Production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Finished Goods Stock + Raw Materials + Capacity</a:t>
            </a:r>
            <a:endParaRPr lang="en-US" sz="1100" dirty="0"/>
          </a:p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Make-to-Stock / Make-to-Order Decision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908" y="4476552"/>
            <a:ext cx="10927878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DEMAND SIGNAL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1908" y="4873823"/>
            <a:ext cx="10927878" cy="52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WMA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Brass Burner Ring, Cast Iron Pan Support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Gas Valve Assembly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1908" y="5523706"/>
            <a:ext cx="10927878" cy="480715"/>
          </a:xfrm>
          <a:prstGeom prst="roundRect">
            <a:avLst>
              <a:gd name="adj" fmla="val 44013"/>
            </a:avLst>
          </a:prstGeom>
          <a:solidFill>
            <a:srgbClr val="D4E9F7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95" y="5685334"/>
            <a:ext cx="176307" cy="1409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0188" y="5669062"/>
            <a:ext cx="10938197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not pre-produce everything. Pre-produce selectively where demand is sufficiently stable.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BBC037-8BBC-8CA0-3ED0-C5F0ABC30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422" y="6414467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3662"/>
            <a:ext cx="10927878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MetaFab Production Planning Decision Framework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31908" y="1177032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31908" y="1378347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5" name="Text 3"/>
          <p:cNvSpPr/>
          <p:nvPr/>
        </p:nvSpPr>
        <p:spPr>
          <a:xfrm>
            <a:off x="631908" y="1481237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1 — DEMAND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908" y="1750616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Recent orders + demand history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42479" y="1177032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42479" y="1378347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9" name="Text 7"/>
          <p:cNvSpPr/>
          <p:nvPr/>
        </p:nvSpPr>
        <p:spPr>
          <a:xfrm>
            <a:off x="6142479" y="1481237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2 — VARIABILITY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42479" y="1750616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demand CV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1908" y="2119511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1908" y="2307927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3" name="Text 11"/>
          <p:cNvSpPr/>
          <p:nvPr/>
        </p:nvSpPr>
        <p:spPr>
          <a:xfrm>
            <a:off x="631908" y="2423716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3 — INVENTORY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1908" y="2693095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Finished-goods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2479" y="2119511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2479" y="2307927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7" name="Text 15"/>
          <p:cNvSpPr/>
          <p:nvPr/>
        </p:nvSpPr>
        <p:spPr>
          <a:xfrm>
            <a:off x="6142479" y="2423716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4 — MATERIAL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2479" y="2693095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Raw-material availability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908" y="3061990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1908" y="3237409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1" name="Text 19"/>
          <p:cNvSpPr/>
          <p:nvPr/>
        </p:nvSpPr>
        <p:spPr>
          <a:xfrm>
            <a:off x="631908" y="3366195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5 — CAPACITY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908" y="3635573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capacity vs planned production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2479" y="3061990"/>
            <a:ext cx="2594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2479" y="3237409"/>
            <a:ext cx="5417307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5" name="Text 23"/>
          <p:cNvSpPr/>
          <p:nvPr/>
        </p:nvSpPr>
        <p:spPr>
          <a:xfrm>
            <a:off x="6142479" y="3366195"/>
            <a:ext cx="5417307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6 — CONSTRAINTS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2479" y="3635573"/>
            <a:ext cx="541730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downtime + workforce availability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8447" y="3977283"/>
            <a:ext cx="5492613" cy="1711623"/>
          </a:xfrm>
          <a:prstGeom prst="roundRect">
            <a:avLst>
              <a:gd name="adj" fmla="val 18196"/>
            </a:avLst>
          </a:prstGeom>
          <a:solidFill>
            <a:srgbClr val="505468"/>
          </a:solidFill>
          <a:ln/>
        </p:spPr>
      </p:sp>
      <p:sp>
        <p:nvSpPr>
          <p:cNvPr id="28" name="Text 26"/>
          <p:cNvSpPr/>
          <p:nvPr/>
        </p:nvSpPr>
        <p:spPr>
          <a:xfrm>
            <a:off x="668122" y="4109343"/>
            <a:ext cx="5233261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FINAL DECISION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8122" y="4416028"/>
            <a:ext cx="5233261" cy="122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MAKE-TO-STOCK</a:t>
            </a:r>
            <a:endParaRPr lang="en-US" sz="1000" dirty="0"/>
          </a:p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</a:t>
            </a:r>
            <a:endParaRPr lang="en-US" sz="1000" dirty="0"/>
          </a:p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MAKE-TO-ORDER</a:t>
            </a:r>
            <a:endParaRPr lang="en-US" sz="1000" dirty="0"/>
          </a:p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READINESS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0447" y="4109343"/>
            <a:ext cx="5305689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MONITOR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0447" y="4416028"/>
            <a:ext cx="5915274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+ Defects + Inventory + Dispatch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0447" y="4687689"/>
            <a:ext cx="5305689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0447" y="4994374"/>
            <a:ext cx="5915274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Recalculate monthly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1908" y="5832574"/>
            <a:ext cx="10927878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final solution converts individual analyses into one repeatable </a:t>
            </a:r>
            <a:r>
              <a:rPr lang="en-US" sz="10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production-planning routine.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A5BDC46-D85D-50FF-43B8-5699206C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071" y="6410920"/>
            <a:ext cx="1272650" cy="388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880</Words>
  <Application>Microsoft Office PowerPoint</Application>
  <PresentationFormat>Widescreen</PresentationFormat>
  <Paragraphs>177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 Bold</vt:lpstr>
      <vt:lpstr>Times New Roman</vt:lpstr>
      <vt:lpstr>Arial</vt:lpstr>
      <vt:lpstr>Barlow Bold</vt:lpstr>
      <vt:lpstr>Calibri</vt:lpstr>
      <vt:lpstr>Barlow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Rishit Jain</cp:lastModifiedBy>
  <cp:revision>9</cp:revision>
  <dcterms:created xsi:type="dcterms:W3CDTF">2026-09-15T14:25:04Z</dcterms:created>
  <dcterms:modified xsi:type="dcterms:W3CDTF">2026-09-15T15:23:07Z</dcterms:modified>
</cp:coreProperties>
</file>